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75" r:id="rId3"/>
    <p:sldId id="269" r:id="rId4"/>
    <p:sldId id="257" r:id="rId5"/>
    <p:sldId id="274" r:id="rId6"/>
    <p:sldId id="268" r:id="rId7"/>
    <p:sldId id="273" r:id="rId8"/>
    <p:sldId id="271" r:id="rId9"/>
    <p:sldId id="270"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50"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r>
              <a:rPr lang="en-US" sz="2400" dirty="0"/>
              <a:t>AI-Based tool for preliminary diagnosis of Dermatological 					manifestations.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dirty="0">
                <a:latin typeface="Cambria" panose="02040503050406030204" pitchFamily="18" charset="0"/>
                <a:ea typeface="Cambria" panose="02040503050406030204" pitchFamily="18" charset="0"/>
              </a:rPr>
              <a:t>Team Number:  </a:t>
            </a:r>
            <a:r>
              <a:rPr lang="en-IN" sz="1600" dirty="0"/>
              <a:t>CSE_18</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5181599" y="2513340"/>
            <a:ext cx="6812896"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Under the Supervision of,</a:t>
            </a:r>
            <a:endParaRPr sz="1800" dirty="0">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IN" sz="1600" b="1" dirty="0">
                <a:solidFill>
                  <a:schemeClr val="bg2">
                    <a:lumMod val="75000"/>
                  </a:schemeClr>
                </a:solidFill>
              </a:rPr>
              <a:t>          Dr . </a:t>
            </a:r>
            <a:r>
              <a:rPr lang="en-IN" sz="1600" b="1" dirty="0" err="1">
                <a:solidFill>
                  <a:schemeClr val="bg2">
                    <a:lumMod val="75000"/>
                  </a:schemeClr>
                </a:solidFill>
              </a:rPr>
              <a:t>Taranath</a:t>
            </a:r>
            <a:endParaRPr lang="en-IN" b="1" dirty="0">
              <a:solidFill>
                <a:schemeClr val="bg2">
                  <a:lumMod val="75000"/>
                </a:schemeClr>
              </a:solidFill>
              <a:latin typeface="Cambria" panose="02040503050406030204" pitchFamily="18" charset="0"/>
              <a:ea typeface="Cambria" panose="02040503050406030204" pitchFamily="18" charset="0"/>
            </a:endParaRPr>
          </a:p>
          <a:p>
            <a:pPr lvl="0" algn="ctr">
              <a:spcBef>
                <a:spcPts val="340"/>
              </a:spcBef>
              <a:buClr>
                <a:srgbClr val="17365D"/>
              </a:buClr>
              <a:buSzPts val="1700"/>
            </a:pP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lang="en-IN"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484270530"/>
              </p:ext>
            </p:extLst>
          </p:nvPr>
        </p:nvGraphicFramePr>
        <p:xfrm>
          <a:off x="598881" y="2499989"/>
          <a:ext cx="5373188" cy="2673841"/>
        </p:xfrm>
        <a:graphic>
          <a:graphicData uri="http://schemas.openxmlformats.org/drawingml/2006/table">
            <a:tbl>
              <a:tblPr firstRow="1" bandRow="1">
                <a:noFill/>
                <a:tableStyleId>{57690726-49DA-4552-BDEB-330DD8EA8BD9}</a:tableStyleId>
              </a:tblPr>
              <a:tblGrid>
                <a:gridCol w="1993107">
                  <a:extLst>
                    <a:ext uri="{9D8B030D-6E8A-4147-A177-3AD203B41FA5}">
                      <a16:colId xmlns:a16="http://schemas.microsoft.com/office/drawing/2014/main" val="20000"/>
                    </a:ext>
                  </a:extLst>
                </a:gridCol>
                <a:gridCol w="3380081">
                  <a:extLst>
                    <a:ext uri="{9D8B030D-6E8A-4147-A177-3AD203B41FA5}">
                      <a16:colId xmlns:a16="http://schemas.microsoft.com/office/drawing/2014/main" val="20001"/>
                    </a:ext>
                  </a:extLst>
                </a:gridCol>
              </a:tblGrid>
              <a:tr h="407156">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53337">
                <a:tc>
                  <a:txBody>
                    <a:bodyPr/>
                    <a:lstStyle/>
                    <a:p>
                      <a:pPr marL="0" marR="0" lvl="0" indent="0" algn="ctr" rtl="0">
                        <a:spcBef>
                          <a:spcPts val="0"/>
                        </a:spcBef>
                        <a:spcAft>
                          <a:spcPts val="0"/>
                        </a:spcAft>
                        <a:buFont typeface="+mj-lt"/>
                        <a:buNone/>
                      </a:pPr>
                      <a:r>
                        <a:rPr lang="en-US" sz="1800" u="none" strike="noStrike" cap="none" dirty="0"/>
                        <a:t>20221CSE0659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Bhumika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3337">
                <a:tc>
                  <a:txBody>
                    <a:bodyPr/>
                    <a:lstStyle/>
                    <a:p>
                      <a:pPr marL="0" marR="0" lvl="0" indent="0" algn="ctr" rtl="0">
                        <a:spcBef>
                          <a:spcPts val="0"/>
                        </a:spcBef>
                        <a:spcAft>
                          <a:spcPts val="0"/>
                        </a:spcAft>
                        <a:buNone/>
                      </a:pPr>
                      <a:r>
                        <a:rPr lang="en-US" sz="1800" u="none" strike="noStrike" cap="none" dirty="0"/>
                        <a:t>20221CSE0705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     Pushpalatha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3337">
                <a:tc>
                  <a:txBody>
                    <a:bodyPr/>
                    <a:lstStyle/>
                    <a:p>
                      <a:pPr marL="0" marR="0" lvl="0" indent="0" algn="ctr" rtl="0">
                        <a:spcBef>
                          <a:spcPts val="0"/>
                        </a:spcBef>
                        <a:spcAft>
                          <a:spcPts val="0"/>
                        </a:spcAft>
                        <a:buNone/>
                      </a:pPr>
                      <a:r>
                        <a:rPr lang="en-US" sz="1800" u="none" strike="noStrike" cap="none" dirty="0"/>
                        <a:t>20221CSE0677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            Hrishikesh  S Roogi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5333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a:sym typeface="Verdana"/>
              </a:rPr>
              <a:t>C</a:t>
            </a:r>
            <a:r>
              <a:rPr lang="en-IN" sz="1800" b="1" dirty="0">
                <a:solidFill>
                  <a:schemeClr val="bg2">
                    <a:lumMod val="50000"/>
                  </a:schemeClr>
                </a:solidFill>
              </a:rPr>
              <a:t>apstone Project </a:t>
            </a:r>
            <a:endParaRPr lang="en-US" sz="1800" b="1" i="0" u="none" strike="noStrike" cap="none" dirty="0">
              <a:solidFill>
                <a:schemeClr val="bg2">
                  <a:lumMod val="50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Jayavadivel</a:t>
            </a:r>
            <a:r>
              <a:rPr lang="en-IN" sz="1800" b="1" dirty="0"/>
              <a:t> Ravi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6;p14">
            <a:extLst>
              <a:ext uri="{FF2B5EF4-FFF2-40B4-BE49-F238E27FC236}">
                <a16:creationId xmlns:a16="http://schemas.microsoft.com/office/drawing/2014/main" id="{8B9584AC-240F-43D9-A50A-14E6791DC7A8}"/>
              </a:ext>
            </a:extLst>
          </p:cNvPr>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5" name="Google Shape;96;p14">
            <a:extLst>
              <a:ext uri="{FF2B5EF4-FFF2-40B4-BE49-F238E27FC236}">
                <a16:creationId xmlns:a16="http://schemas.microsoft.com/office/drawing/2014/main" id="{F231A488-EF01-422C-B2E9-4072C0A63A3B}"/>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ctr" anchorCtr="0">
            <a:noAutofit/>
          </a:bodyPr>
          <a:lstStyle/>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p>
          <a:p>
            <a:pPr marL="0" lvl="0" indent="0" algn="l" rtl="0">
              <a:spcBef>
                <a:spcPts val="0"/>
              </a:spcBef>
              <a:spcAft>
                <a:spcPts val="0"/>
              </a:spcAft>
              <a:buClr>
                <a:srgbClr val="17365D"/>
              </a:buClr>
              <a:buSzPts val="2800"/>
              <a:buFont typeface="Verdana"/>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66275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7376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  </a:t>
            </a:r>
            <a:r>
              <a:rPr lang="en-US" dirty="0">
                <a:latin typeface="Cambria" panose="02040503050406030204" pitchFamily="18" charset="0"/>
                <a:ea typeface="Cambria" panose="02040503050406030204" pitchFamily="18" charset="0"/>
              </a:rPr>
              <a:t>PSCS_49</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026160"/>
            <a:ext cx="10668000" cy="5069841"/>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sz="2900" b="1" dirty="0">
                <a:solidFill>
                  <a:schemeClr val="bg2">
                    <a:lumMod val="75000"/>
                  </a:schemeClr>
                </a:solidFill>
                <a:latin typeface="Cambria" panose="02040503050406030204" pitchFamily="18" charset="0"/>
                <a:ea typeface="Cambria" panose="02040503050406030204" pitchFamily="18" charset="0"/>
              </a:rPr>
              <a:t>Organization</a:t>
            </a:r>
            <a:r>
              <a:rPr lang="en-US" sz="2900" dirty="0">
                <a:latin typeface="Cambria" panose="02040503050406030204" pitchFamily="18" charset="0"/>
                <a:ea typeface="Cambria" panose="02040503050406030204" pitchFamily="18" charset="0"/>
              </a:rPr>
              <a:t>: </a:t>
            </a:r>
            <a:r>
              <a:rPr lang="en-IN" sz="2900" dirty="0">
                <a:solidFill>
                  <a:schemeClr val="bg2">
                    <a:lumMod val="60000"/>
                    <a:lumOff val="40000"/>
                  </a:schemeClr>
                </a:solidFill>
              </a:rPr>
              <a:t>Ministry of AYUSH</a:t>
            </a:r>
            <a:endParaRPr lang="en-US" sz="2900" dirty="0">
              <a:solidFill>
                <a:schemeClr val="bg2">
                  <a:lumMod val="60000"/>
                  <a:lumOff val="40000"/>
                </a:schemeClr>
              </a:solidFill>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900" b="1" dirty="0">
                <a:solidFill>
                  <a:schemeClr val="bg2">
                    <a:lumMod val="75000"/>
                  </a:schemeClr>
                </a:solidFill>
                <a:latin typeface="Cambria" panose="02040503050406030204" pitchFamily="18" charset="0"/>
                <a:ea typeface="Cambria" panose="02040503050406030204" pitchFamily="18" charset="0"/>
              </a:rPr>
              <a:t>Category </a:t>
            </a:r>
            <a:r>
              <a:rPr lang="en-US" sz="2900" b="1" dirty="0">
                <a:latin typeface="Cambria" panose="02040503050406030204" pitchFamily="18" charset="0"/>
                <a:ea typeface="Cambria" panose="02040503050406030204" pitchFamily="18" charset="0"/>
              </a:rPr>
              <a:t> </a:t>
            </a:r>
            <a:r>
              <a:rPr lang="en-US" sz="2900" dirty="0">
                <a:solidFill>
                  <a:schemeClr val="bg2">
                    <a:lumMod val="60000"/>
                    <a:lumOff val="40000"/>
                  </a:schemeClr>
                </a:solidFill>
                <a:latin typeface="Cambria" panose="02040503050406030204" pitchFamily="18" charset="0"/>
                <a:ea typeface="Cambria" panose="02040503050406030204" pitchFamily="18" charset="0"/>
              </a:rPr>
              <a:t>:  </a:t>
            </a:r>
            <a:r>
              <a:rPr lang="en-US" sz="2900" b="1" dirty="0">
                <a:solidFill>
                  <a:schemeClr val="bg2">
                    <a:lumMod val="60000"/>
                    <a:lumOff val="40000"/>
                  </a:schemeClr>
                </a:solidFill>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sz="2900" b="1" dirty="0">
                <a:solidFill>
                  <a:schemeClr val="bg2">
                    <a:lumMod val="75000"/>
                  </a:schemeClr>
                </a:solidFill>
                <a:latin typeface="Cambria" panose="02040503050406030204" pitchFamily="18" charset="0"/>
                <a:ea typeface="Cambria" panose="02040503050406030204" pitchFamily="18" charset="0"/>
              </a:rPr>
              <a:t>Problem Description</a:t>
            </a:r>
            <a:r>
              <a:rPr lang="en-US" sz="2600" b="1" dirty="0">
                <a:solidFill>
                  <a:schemeClr val="bg2">
                    <a:lumMod val="75000"/>
                  </a:schemeClr>
                </a:solidFill>
                <a:latin typeface="Cambria" panose="02040503050406030204" pitchFamily="18" charset="0"/>
                <a:ea typeface="Cambria" panose="02040503050406030204" pitchFamily="18" charset="0"/>
              </a:rPr>
              <a:t>:</a:t>
            </a:r>
          </a:p>
          <a:p>
            <a:pPr marL="342900" indent="-190500" algn="just">
              <a:lnSpc>
                <a:spcPct val="200000"/>
              </a:lnSpc>
              <a:spcBef>
                <a:spcPts val="0"/>
              </a:spcBef>
              <a:buNone/>
            </a:pPr>
            <a:r>
              <a:rPr lang="en-US" sz="2900" dirty="0">
                <a:latin typeface="Verdana" panose="020B0604030504040204" pitchFamily="34" charset="0"/>
                <a:ea typeface="Verdana" panose="020B0604030504040204" pitchFamily="34" charset="0"/>
              </a:rPr>
              <a:t>  Access to timely dermatological diagnosis is limited in many underserved regions due to a shortage of specialists, inadequate diagnostic tools, and poor healthcare infrastructure. This leads to delayed detection and treatment of skin diseases, which are among the leading causes of nonfatal disease burden and can indicate serious underlying conditions. An AI-based image processing tool for preliminary diagnosis of dermatological manifestations can provide an efficient, cost-effective, and accessible solution, enabling early screening and improved healthcare delivery.</a:t>
            </a:r>
            <a:endParaRPr lang="en-US" b="1" dirty="0">
              <a:solidFill>
                <a:schemeClr val="bg2">
                  <a:lumMod val="75000"/>
                </a:schemeClr>
              </a:solidFill>
              <a:latin typeface="Quicksand" panose="00000500000000000000" pitchFamily="2"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104776"/>
            <a:ext cx="10668000" cy="4953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24553" y="3874051"/>
            <a:ext cx="10274300" cy="2326891"/>
          </a:xfrm>
          <a:prstGeom prst="rect">
            <a:avLst/>
          </a:prstGeom>
          <a:noFill/>
          <a:ln>
            <a:noFill/>
          </a:ln>
        </p:spPr>
        <p:txBody>
          <a:bodyPr spcFirstLastPara="1" wrap="square" lIns="91425" tIns="45700" rIns="91425" bIns="45700" anchor="t" anchorCtr="0">
            <a:normAutofit/>
          </a:bodyPr>
          <a:lstStyle/>
          <a:p>
            <a:pPr marL="76200" indent="0">
              <a:buNone/>
            </a:pPr>
            <a:r>
              <a:rPr lang="en-US" sz="1800" b="1" dirty="0">
                <a:latin typeface="Verdana" panose="020B0604030504040204" pitchFamily="34" charset="0"/>
                <a:ea typeface="Verdana" panose="020B0604030504040204" pitchFamily="34" charset="0"/>
              </a:rPr>
              <a:t>Background and Related Work:</a:t>
            </a:r>
            <a:endParaRPr lang="en-US" sz="1800" dirty="0">
              <a:latin typeface="Verdana" panose="020B0604030504040204" pitchFamily="34" charset="0"/>
              <a:ea typeface="Verdana" panose="020B0604030504040204" pitchFamily="34" charset="0"/>
            </a:endParaRPr>
          </a:p>
          <a:p>
            <a:r>
              <a:rPr lang="en-US" sz="1800" b="1" dirty="0"/>
              <a:t>AI in Dermatology</a:t>
            </a:r>
            <a:r>
              <a:rPr lang="en-US" sz="1800" dirty="0"/>
              <a:t> – CNNs achieve dermatologist-level accuracy in skin lesion detection.</a:t>
            </a:r>
          </a:p>
          <a:p>
            <a:r>
              <a:rPr lang="en-US" sz="1800" b="1" dirty="0"/>
              <a:t>Prospective Studies</a:t>
            </a:r>
            <a:r>
              <a:rPr lang="en-US" sz="1800" dirty="0"/>
              <a:t> – AI models achieve top-5 accuracy of ~89% in primary care, aiding triage.</a:t>
            </a:r>
          </a:p>
          <a:p>
            <a:r>
              <a:rPr lang="en-IN" sz="1800" b="1" dirty="0"/>
              <a:t>Advanced Methods</a:t>
            </a:r>
            <a:r>
              <a:rPr lang="en-IN" sz="1800" dirty="0"/>
              <a:t> – Texture-map CNNs enhance malignant region detection.</a:t>
            </a: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1673684D-BF70-D8A3-2AA1-5A828A19A08B}"/>
              </a:ext>
            </a:extLst>
          </p:cNvPr>
          <p:cNvSpPr>
            <a:spLocks noChangeArrowheads="1"/>
          </p:cNvSpPr>
          <p:nvPr/>
        </p:nvSpPr>
        <p:spPr bwMode="auto">
          <a:xfrm>
            <a:off x="713043" y="1350283"/>
            <a:ext cx="10387985"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1800" b="1" dirty="0">
                <a:latin typeface="Verdana" panose="020B0604030504040204" pitchFamily="34" charset="0"/>
                <a:ea typeface="Verdana" panose="020B0604030504040204" pitchFamily="34" charset="0"/>
              </a:rPr>
              <a:t>Objective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Develop an AI-powered platform for preliminary diagnosis of dermatological conditions using image processing  and integrated medical datasets.</a:t>
            </a:r>
          </a:p>
          <a:p>
            <a:pPr marL="342900" indent="-342900" eaLnBrk="0" fontAlgn="base" hangingPunct="0">
              <a:spcBef>
                <a:spcPct val="0"/>
              </a:spcBef>
              <a:spcAft>
                <a:spcPct val="0"/>
              </a:spcAft>
              <a:buClrTx/>
              <a:buFont typeface="Arial" panose="020B0604020202020204" pitchFamily="34" charset="0"/>
              <a:buChar char="•"/>
            </a:pPr>
            <a:r>
              <a:rPr kumimoji="0" lang="en-US" altLang="en-US" sz="2000" i="0" u="none" strike="noStrike" cap="none" normalizeH="0" baseline="0" dirty="0">
                <a:ln>
                  <a:noFill/>
                </a:ln>
                <a:solidFill>
                  <a:schemeClr val="tx1"/>
                </a:solidFill>
                <a:effectLst/>
                <a:latin typeface="Arial" panose="020B0604020202020204" pitchFamily="34" charset="0"/>
              </a:rPr>
              <a:t>Address the shortage of dermatology specialists and diagnostic infrastructure in       u</a:t>
            </a:r>
            <a:r>
              <a:rPr lang="en-US" altLang="en-US" sz="2000" dirty="0">
                <a:solidFill>
                  <a:schemeClr val="tx1"/>
                </a:solidFill>
                <a:latin typeface="Arial" panose="020B0604020202020204" pitchFamily="34" charset="0"/>
              </a:rPr>
              <a:t>nderserved regions.</a:t>
            </a:r>
          </a:p>
          <a:p>
            <a:pPr marL="342900" indent="-342900" eaLnBrk="0" fontAlgn="base" hangingPunct="0">
              <a:spcBef>
                <a:spcPct val="0"/>
              </a:spcBef>
              <a:spcAft>
                <a:spcPct val="0"/>
              </a:spcAft>
              <a:buClrTx/>
              <a:buFont typeface="Arial" panose="020B0604020202020204" pitchFamily="34" charset="0"/>
              <a:buChar char="•"/>
            </a:pPr>
            <a:r>
              <a:rPr kumimoji="0" lang="en-US" altLang="en-US" sz="2000" i="0" u="none" strike="noStrike" cap="none" normalizeH="0" baseline="0" dirty="0">
                <a:ln>
                  <a:noFill/>
                </a:ln>
                <a:solidFill>
                  <a:schemeClr val="tx1"/>
                </a:solidFill>
                <a:effectLst/>
                <a:latin typeface="Arial" panose="020B0604020202020204" pitchFamily="34" charset="0"/>
              </a:rPr>
              <a:t>Enable instant skin condition screening through mobile and web interfaces.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Facilitate early detection of skin diseases to promote timely referrals.</a:t>
            </a:r>
          </a:p>
          <a:p>
            <a:pPr marL="342900" lvl="0" indent="-342900" eaLnBrk="0" fontAlgn="base" hangingPunct="0">
              <a:spcBef>
                <a:spcPct val="0"/>
              </a:spcBef>
              <a:spcAft>
                <a:spcPct val="0"/>
              </a:spcAft>
              <a:buClrTx/>
              <a:buFont typeface="Arial" panose="020B0604020202020204" pitchFamily="34" charset="0"/>
              <a:buChar char="•"/>
            </a:pPr>
            <a:r>
              <a:rPr lang="en-US" sz="2000" dirty="0"/>
              <a:t>Offer relevant care recommendations to improve treatment outcomes.</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E8D12D50-2F61-72D8-43FE-FA946E368523}"/>
              </a:ext>
            </a:extLst>
          </p:cNvPr>
          <p:cNvSpPr>
            <a:spLocks noChangeArrowheads="1"/>
          </p:cNvSpPr>
          <p:nvPr/>
        </p:nvSpPr>
        <p:spPr bwMode="auto">
          <a:xfrm>
            <a:off x="447151" y="919593"/>
            <a:ext cx="1129769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1800" b="1" dirty="0">
                <a:solidFill>
                  <a:schemeClr val="tx1"/>
                </a:solidFill>
                <a:latin typeface="Arial" panose="020B0604020202020204" pitchFamily="34" charset="0"/>
                <a:ea typeface="Verdana" panose="020B0604030504040204" pitchFamily="34" charset="0"/>
              </a:rPr>
              <a:t> </a:t>
            </a:r>
            <a:r>
              <a:rPr lang="en-US" sz="1800" b="1" dirty="0">
                <a:latin typeface="Verdana" panose="020B0604030504040204" pitchFamily="34" charset="0"/>
                <a:ea typeface="Verdana" panose="020B0604030504040204" pitchFamily="34" charset="0"/>
              </a:rPr>
              <a:t>Analysis of Problem Statement:</a:t>
            </a:r>
            <a:endParaRPr lang="en-US" sz="1800" dirty="0">
              <a:latin typeface="Verdana" panose="020B0604030504040204" pitchFamily="34" charset="0"/>
              <a:ea typeface="Verdana" panose="020B060403050404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 Skin Disease Burden</a:t>
            </a:r>
            <a:r>
              <a:rPr kumimoji="0" lang="en-US" altLang="en-US" sz="1800" b="0" i="0" u="none" strike="noStrike" cap="none" normalizeH="0" baseline="0" dirty="0">
                <a:ln>
                  <a:noFill/>
                </a:ln>
                <a:solidFill>
                  <a:schemeClr val="tx1"/>
                </a:solidFill>
                <a:effectLst/>
                <a:latin typeface="Arial" panose="020B0604020202020204" pitchFamily="34" charset="0"/>
              </a:rPr>
              <a:t> – Millions worldwide suffer from skin conditions, but dermatologist availability is limited, especially in rural and underserved areas.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Delayed &amp; Manual Diagnosis</a:t>
            </a:r>
            <a:r>
              <a:rPr kumimoji="0" lang="en-US" altLang="en-US" sz="1800" b="0" i="0" u="none" strike="noStrike" cap="none" normalizeH="0" baseline="0" dirty="0">
                <a:ln>
                  <a:noFill/>
                </a:ln>
                <a:solidFill>
                  <a:schemeClr val="tx1"/>
                </a:solidFill>
                <a:effectLst/>
                <a:latin typeface="Arial" panose="020B0604020202020204" pitchFamily="34" charset="0"/>
              </a:rPr>
              <a:t> – Traditional diagnosis requires in-person visits and expert evaluation, leading to delays and possible worsening of conditions.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Lack of Accessible Tools</a:t>
            </a:r>
            <a:r>
              <a:rPr kumimoji="0" lang="en-US" altLang="en-US" sz="1800" b="0" i="0" u="none" strike="noStrike" cap="none" normalizeH="0" baseline="0" dirty="0">
                <a:ln>
                  <a:noFill/>
                </a:ln>
                <a:solidFill>
                  <a:schemeClr val="tx1"/>
                </a:solidFill>
                <a:effectLst/>
                <a:latin typeface="Arial" panose="020B0604020202020204" pitchFamily="34" charset="0"/>
              </a:rPr>
              <a:t> – Existing online or mobile tools are often narrow in scope, rely on self-reported symptoms, and may lack image-based AI analysis.</a:t>
            </a:r>
          </a:p>
        </p:txBody>
      </p:sp>
      <p:sp>
        <p:nvSpPr>
          <p:cNvPr id="4" name="Rectangle 3">
            <a:extLst>
              <a:ext uri="{FF2B5EF4-FFF2-40B4-BE49-F238E27FC236}">
                <a16:creationId xmlns:a16="http://schemas.microsoft.com/office/drawing/2014/main" id="{FE48FDD9-0412-4FD5-B269-1B2DAD67FC0E}"/>
              </a:ext>
            </a:extLst>
          </p:cNvPr>
          <p:cNvSpPr>
            <a:spLocks noChangeArrowheads="1"/>
          </p:cNvSpPr>
          <p:nvPr/>
        </p:nvSpPr>
        <p:spPr bwMode="auto">
          <a:xfrm>
            <a:off x="369277" y="3385773"/>
            <a:ext cx="11453446"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sz="2000" b="1" dirty="0"/>
              <a:t>Innovation or Novel Contributions</a:t>
            </a:r>
            <a:r>
              <a:rPr lang="en-US" sz="2400" b="1" dirty="0"/>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Automated AI Diagnosis</a:t>
            </a:r>
            <a:r>
              <a:rPr kumimoji="0" lang="en-US" altLang="en-US" sz="1800" b="0" i="0" u="none" strike="noStrike" cap="none" normalizeH="0" baseline="0" dirty="0">
                <a:ln>
                  <a:noFill/>
                </a:ln>
                <a:solidFill>
                  <a:schemeClr val="tx1"/>
                </a:solidFill>
                <a:effectLst/>
                <a:latin typeface="Arial" panose="020B0604020202020204" pitchFamily="34" charset="0"/>
              </a:rPr>
              <a:t> – Uses deep learning (e.g., CNNs) to analyze skin images instantly for preliminary diagnosis across multiple dermatological conditions.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Explainable Outputs</a:t>
            </a:r>
            <a:r>
              <a:rPr kumimoji="0" lang="en-US" altLang="en-US" sz="1800" b="0" i="0" u="none" strike="noStrike" cap="none" normalizeH="0" baseline="0" dirty="0">
                <a:ln>
                  <a:noFill/>
                </a:ln>
                <a:solidFill>
                  <a:schemeClr val="tx1"/>
                </a:solidFill>
                <a:effectLst/>
                <a:latin typeface="Arial" panose="020B0604020202020204" pitchFamily="34" charset="0"/>
              </a:rPr>
              <a:t> – Provides visual heatmaps or highlighted lesion areas to build user trust and assist clinicians.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Chatbot Support</a:t>
            </a:r>
            <a:r>
              <a:rPr kumimoji="0" lang="en-US" altLang="en-US" sz="1800" b="0" i="0" u="none" strike="noStrike" cap="none" normalizeH="0" baseline="0" dirty="0">
                <a:ln>
                  <a:noFill/>
                </a:ln>
                <a:solidFill>
                  <a:schemeClr val="tx1"/>
                </a:solidFill>
                <a:effectLst/>
                <a:latin typeface="Arial" panose="020B0604020202020204" pitchFamily="34" charset="0"/>
              </a:rPr>
              <a:t> – An AI chatbot can explain results, answer questions, and suggest preventive or care steps.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Multi-Platform Accessibility</a:t>
            </a:r>
            <a:r>
              <a:rPr kumimoji="0" lang="en-US" altLang="en-US" sz="1800" b="0" i="0" u="none" strike="noStrike" cap="none" normalizeH="0" baseline="0" dirty="0">
                <a:ln>
                  <a:noFill/>
                </a:ln>
                <a:solidFill>
                  <a:schemeClr val="tx1"/>
                </a:solidFill>
                <a:effectLst/>
                <a:latin typeface="Arial" panose="020B0604020202020204" pitchFamily="34" charset="0"/>
              </a:rPr>
              <a:t> – Works on mobile, web, and possibly offline modes for remote communities.</a:t>
            </a:r>
          </a:p>
        </p:txBody>
      </p:sp>
    </p:spTree>
    <p:extLst>
      <p:ext uri="{BB962C8B-B14F-4D97-AF65-F5344CB8AC3E}">
        <p14:creationId xmlns:p14="http://schemas.microsoft.com/office/powerpoint/2010/main" val="2637979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indent="-190500" algn="just">
              <a:spcBef>
                <a:spcPts val="0"/>
              </a:spcBef>
              <a:buSzPct val="100000"/>
              <a:buNone/>
            </a:pPr>
            <a:r>
              <a:rPr lang="en-US" sz="1800" dirty="0">
                <a:latin typeface="Verdana" panose="020B0604030504040204" pitchFamily="34" charset="0"/>
                <a:ea typeface="Verdana" panose="020B0604030504040204" pitchFamily="34" charset="0"/>
              </a:rPr>
              <a:t>Need for an easy, accurate, and quick tool to </a:t>
            </a:r>
            <a:r>
              <a:rPr lang="en-US" sz="1800" dirty="0" err="1">
                <a:latin typeface="Verdana" panose="020B0604030504040204" pitchFamily="34" charset="0"/>
                <a:ea typeface="Verdana" panose="020B0604030504040204" pitchFamily="34" charset="0"/>
              </a:rPr>
              <a:t>daigonise</a:t>
            </a:r>
            <a:r>
              <a:rPr lang="en-US" sz="1800" dirty="0">
                <a:latin typeface="Verdana" panose="020B0604030504040204" pitchFamily="34" charset="0"/>
                <a:ea typeface="Verdana" panose="020B0604030504040204" pitchFamily="34" charset="0"/>
              </a:rPr>
              <a:t> the skin disease.</a:t>
            </a:r>
          </a:p>
          <a:p>
            <a:pPr marL="76200" indent="0">
              <a:buNone/>
            </a:pPr>
            <a:endParaRPr lang="en-US" sz="1800" dirty="0">
              <a:latin typeface="Verdana" panose="020B0604030504040204" pitchFamily="34" charset="0"/>
              <a:ea typeface="Verdana" panose="020B0604030504040204" pitchFamily="34" charset="0"/>
            </a:endParaRPr>
          </a:p>
          <a:p>
            <a:pPr marL="76200" indent="0">
              <a:buNone/>
            </a:pPr>
            <a:r>
              <a:rPr lang="en-US" sz="1800" b="1" dirty="0">
                <a:latin typeface="Verdana" panose="020B0604030504040204" pitchFamily="34" charset="0"/>
                <a:ea typeface="Verdana" panose="020B0604030504040204" pitchFamily="34" charset="0"/>
              </a:rPr>
              <a:t>     </a:t>
            </a:r>
            <a:r>
              <a:rPr lang="en-IN" sz="2200" b="1" dirty="0"/>
              <a:t>Technology Stack Components:</a:t>
            </a:r>
          </a:p>
          <a:p>
            <a:pPr marL="76200" indent="0">
              <a:buNone/>
            </a:pPr>
            <a:endParaRPr lang="en-IN" sz="2200" dirty="0"/>
          </a:p>
          <a:p>
            <a:r>
              <a:rPr lang="en-IN" sz="1800" b="1" dirty="0"/>
              <a:t>Image Capture Devices</a:t>
            </a:r>
            <a:r>
              <a:rPr lang="en-IN" sz="1800" dirty="0"/>
              <a:t> – Smartphone cameras or </a:t>
            </a:r>
            <a:r>
              <a:rPr lang="en-IN" sz="1800" dirty="0" err="1"/>
              <a:t>dermatoscopes</a:t>
            </a:r>
            <a:r>
              <a:rPr lang="en-IN" sz="1800" dirty="0"/>
              <a:t> for capturing high-quality skin images.</a:t>
            </a:r>
          </a:p>
          <a:p>
            <a:r>
              <a:rPr lang="en-IN" sz="1800" b="1" dirty="0"/>
              <a:t>Database</a:t>
            </a:r>
            <a:r>
              <a:rPr lang="en-IN" sz="1800" dirty="0"/>
              <a:t> – MySQL or MongoDB for storing images, patient metadata, and diagnostic results.</a:t>
            </a:r>
          </a:p>
          <a:p>
            <a:r>
              <a:rPr lang="en-IN" sz="1800" b="1" dirty="0"/>
              <a:t>Backend</a:t>
            </a:r>
            <a:r>
              <a:rPr lang="en-IN" sz="1800" dirty="0"/>
              <a:t> – Python (Flask/Django) or Node.js for image processing, AI inference, and API handling.</a:t>
            </a:r>
          </a:p>
          <a:p>
            <a:r>
              <a:rPr lang="en-IN" sz="1800" b="1" dirty="0"/>
              <a:t>Frontend</a:t>
            </a:r>
            <a:r>
              <a:rPr lang="en-IN" sz="1800" dirty="0"/>
              <a:t> – HTML, CSS, JavaScript (React/Angular) for a responsive, user-friendly diagnostic interface.</a:t>
            </a:r>
          </a:p>
          <a:p>
            <a:r>
              <a:rPr lang="en-IN" sz="1800" b="1" dirty="0"/>
              <a:t>AI &amp; Deep Learning Models</a:t>
            </a:r>
            <a:r>
              <a:rPr lang="en-IN" sz="1800" dirty="0"/>
              <a:t> – CNN-based image classification for detecting and classifying skin conditions; integrated explainability (heatmaps).</a:t>
            </a:r>
          </a:p>
          <a:p>
            <a:r>
              <a:rPr lang="en-IN" sz="1800" b="1" dirty="0"/>
              <a:t>APIs</a:t>
            </a:r>
            <a:r>
              <a:rPr lang="en-IN" sz="1800" dirty="0"/>
              <a:t> – Integration with medical datasets, tele-dermatology services, and electronic health record systems.</a:t>
            </a:r>
          </a:p>
          <a:p>
            <a:r>
              <a:rPr lang="en-IN" sz="1800" b="1" dirty="0"/>
              <a:t>Multilingual Support</a:t>
            </a:r>
            <a:r>
              <a:rPr lang="en-IN" sz="1800" dirty="0"/>
              <a:t> – Accessibility for diverse linguistic groups across India.</a:t>
            </a:r>
          </a:p>
          <a:p>
            <a:r>
              <a:rPr lang="en-IN" sz="1800" b="1" dirty="0"/>
              <a:t>Chatbot Assistant</a:t>
            </a:r>
            <a:r>
              <a:rPr lang="en-IN" sz="1800" dirty="0"/>
              <a:t> – AI chatbot for explaining diagnoses, suggesting care steps, and guiding follow-up actions.</a:t>
            </a:r>
          </a:p>
          <a:p>
            <a:pPr marL="342900" lvl="0" indent="-190500" algn="just" rtl="0">
              <a:spcBef>
                <a:spcPts val="0"/>
              </a:spcBef>
              <a:spcAft>
                <a:spcPts val="0"/>
              </a:spcAft>
              <a:buClr>
                <a:schemeClr val="dk1"/>
              </a:buClr>
              <a:buSzPct val="100000"/>
              <a:buNone/>
            </a:pPr>
            <a:endParaRPr lang="en-US" sz="1800" dirty="0">
              <a:latin typeface="Verdana" panose="020B0604030504040204" pitchFamily="34" charset="0"/>
              <a:ea typeface="Verdana" panose="020B0604030504040204" pitchFamily="34" charset="0"/>
            </a:endParaRPr>
          </a:p>
          <a:p>
            <a:pPr marL="342900" lvl="0" indent="-190500" algn="just" rtl="0">
              <a:spcBef>
                <a:spcPts val="0"/>
              </a:spcBef>
              <a:spcAft>
                <a:spcPts val="0"/>
              </a:spcAft>
              <a:buClr>
                <a:schemeClr val="dk1"/>
              </a:buClr>
              <a:buSzPct val="100000"/>
              <a:buNone/>
            </a:pPr>
            <a:endParaRPr lang="en-US" sz="1800" dirty="0">
              <a:latin typeface="Verdana" panose="020B0604030504040204" pitchFamily="34" charset="0"/>
              <a:ea typeface="Verdana" panose="020B0604030504040204" pitchFamily="34" charset="0"/>
            </a:endParaRPr>
          </a:p>
          <a:p>
            <a:pPr marL="342900" lvl="0" indent="-190500" algn="just" rtl="0">
              <a:lnSpc>
                <a:spcPct val="200000"/>
              </a:lnSpc>
              <a:spcBef>
                <a:spcPts val="0"/>
              </a:spcBef>
              <a:spcAft>
                <a:spcPts val="0"/>
              </a:spcAft>
              <a:buClr>
                <a:schemeClr val="dk1"/>
              </a:buClr>
              <a:buSzPct val="100000"/>
              <a:buNone/>
            </a:pPr>
            <a:endParaRPr lang="en-US" sz="1800" dirty="0">
              <a:latin typeface="Verdana" panose="020B0604030504040204" pitchFamily="34" charset="0"/>
              <a:ea typeface="Verdana" panose="020B0604030504040204" pitchFamily="34"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pic>
        <p:nvPicPr>
          <p:cNvPr id="1026" name="Picture 2">
            <a:extLst>
              <a:ext uri="{FF2B5EF4-FFF2-40B4-BE49-F238E27FC236}">
                <a16:creationId xmlns:a16="http://schemas.microsoft.com/office/drawing/2014/main" id="{B5849706-6787-08EE-59EA-502F9A579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945" y="1083252"/>
            <a:ext cx="9701646"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5C5417F1-6475-440F-9FB4-098A9DDFBB86}"/>
              </a:ext>
            </a:extLst>
          </p:cNvPr>
          <p:cNvPicPr>
            <a:picLocks noChangeAspect="1"/>
          </p:cNvPicPr>
          <p:nvPr/>
        </p:nvPicPr>
        <p:blipFill>
          <a:blip r:embed="rId3"/>
          <a:stretch>
            <a:fillRect/>
          </a:stretch>
        </p:blipFill>
        <p:spPr>
          <a:xfrm>
            <a:off x="1391572" y="1963875"/>
            <a:ext cx="8543925" cy="410527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83920"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US" sz="1800" dirty="0">
                <a:latin typeface="Verdana" panose="020B0604030504040204" pitchFamily="34" charset="0"/>
                <a:ea typeface="Verdana" panose="020B0604030504040204" pitchFamily="34" charset="0"/>
              </a:rPr>
              <a:t>1.Esteva, A., </a:t>
            </a:r>
            <a:r>
              <a:rPr lang="en-US" sz="1800" dirty="0" err="1">
                <a:latin typeface="Verdana" panose="020B0604030504040204" pitchFamily="34" charset="0"/>
                <a:ea typeface="Verdana" panose="020B0604030504040204" pitchFamily="34" charset="0"/>
              </a:rPr>
              <a:t>Kuprel</a:t>
            </a:r>
            <a:r>
              <a:rPr lang="en-US" sz="1800" dirty="0">
                <a:latin typeface="Verdana" panose="020B0604030504040204" pitchFamily="34" charset="0"/>
                <a:ea typeface="Verdana" panose="020B0604030504040204" pitchFamily="34" charset="0"/>
              </a:rPr>
              <a:t>, B., Novoa, R. A., et al. — “Dermatologist-level classification of skin cancer with deep neural networks” (Nature, 2017). Landmark study showing CNNs can match dermatologists on image tasks (useful background even though not IEEE). Nature[2] M. Mekonnen and A. Hoekstra, “The green, blue and grey water footprint of crops and derived crop products,” </a:t>
            </a:r>
            <a:r>
              <a:rPr lang="en-US" sz="1800" i="1" dirty="0">
                <a:latin typeface="Verdana" panose="020B0604030504040204" pitchFamily="34" charset="0"/>
                <a:ea typeface="Verdana" panose="020B0604030504040204" pitchFamily="34" charset="0"/>
              </a:rPr>
              <a:t>Hydrology and Earth System Sciences</a:t>
            </a:r>
            <a:r>
              <a:rPr lang="en-US" sz="1800" dirty="0">
                <a:latin typeface="Verdana" panose="020B0604030504040204" pitchFamily="34" charset="0"/>
                <a:ea typeface="Verdana" panose="020B0604030504040204" pitchFamily="34" charset="0"/>
              </a:rPr>
              <a:t>, vol. 15, no. 5, pp. 1577–1600, May 2011.</a:t>
            </a:r>
          </a:p>
          <a:p>
            <a:endParaRPr lang="en-US" sz="1800" dirty="0">
              <a:latin typeface="Verdana" panose="020B0604030504040204" pitchFamily="34" charset="0"/>
              <a:ea typeface="Verdana" panose="020B0604030504040204" pitchFamily="34" charset="0"/>
            </a:endParaRPr>
          </a:p>
          <a:p>
            <a:r>
              <a:rPr lang="en-US" sz="1800" dirty="0">
                <a:latin typeface="Verdana" panose="020B0604030504040204" pitchFamily="34" charset="0"/>
                <a:ea typeface="Verdana" panose="020B0604030504040204" pitchFamily="34" charset="0"/>
              </a:rPr>
              <a:t>2.Gutman, D., Codella, N. C. F., Celebi, M. E., et al. — “Skin Lesion Analysis toward Melanoma Detection: ISBI/ISIC challenge” (ISBI/ISIC challenge papers / datasets, 2016–2017). Key dataset / benchmark (ISIC). Essential if you need training/test data. arXivchallenge.isic-archive.com</a:t>
            </a:r>
          </a:p>
          <a:p>
            <a:endParaRPr lang="en-US" sz="1800" dirty="0">
              <a:latin typeface="Verdana" panose="020B0604030504040204" pitchFamily="34" charset="0"/>
              <a:ea typeface="Verdana" panose="020B0604030504040204" pitchFamily="34" charset="0"/>
            </a:endParaRPr>
          </a:p>
          <a:p>
            <a:r>
              <a:rPr lang="en-US" sz="1800" dirty="0">
                <a:latin typeface="Verdana" panose="020B0604030504040204" pitchFamily="34" charset="0"/>
                <a:ea typeface="Verdana" panose="020B0604030504040204" pitchFamily="34" charset="0"/>
              </a:rPr>
              <a:t>3. AI-Based Classification for Skin Cancer (Goyal et al., 2019)                    | https://arxiv.org/abs/1911.11872(https://arxiv.org/abs/1911.11872) </a:t>
            </a:r>
          </a:p>
          <a:p>
            <a:pPr marL="152400" indent="0">
              <a:spcBef>
                <a:spcPts val="0"/>
              </a:spcBef>
              <a:buNone/>
            </a:pPr>
            <a:endParaRPr lang="en-US" sz="1800" dirty="0">
              <a:latin typeface="Verdana" panose="020B0604030504040204" pitchFamily="34" charset="0"/>
              <a:ea typeface="Verdana" panose="020B0604030504040204" pitchFamily="34"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TotalTime>
  <Words>930</Words>
  <Application>Microsoft Office PowerPoint</Application>
  <PresentationFormat>Widescreen</PresentationFormat>
  <Paragraphs>93</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Cambria</vt:lpstr>
      <vt:lpstr>Quicksand</vt:lpstr>
      <vt:lpstr>Verdana</vt:lpstr>
      <vt:lpstr>Bioinformatics</vt:lpstr>
      <vt:lpstr>AI-Based tool for preliminary diagnosis of Dermatological      manifestations.</vt:lpstr>
      <vt:lpstr>Content</vt:lpstr>
      <vt:lpstr>Problem Statement Number  :  PSCS_49</vt:lpstr>
      <vt:lpstr>Content</vt:lpstr>
      <vt:lpstr>Content (continuation)..</vt:lpstr>
      <vt:lpstr>Github Link</vt:lpstr>
      <vt:lpstr>Analysis of Problem Statement</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Bhumika s</cp:lastModifiedBy>
  <cp:revision>49</cp:revision>
  <dcterms:modified xsi:type="dcterms:W3CDTF">2025-08-12T15:14:04Z</dcterms:modified>
</cp:coreProperties>
</file>